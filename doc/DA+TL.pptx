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75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56" r:id="rId10"/>
    <p:sldId id="257" r:id="rId11"/>
    <p:sldId id="271" r:id="rId12"/>
    <p:sldId id="258" r:id="rId13"/>
    <p:sldId id="259" r:id="rId14"/>
    <p:sldId id="274" r:id="rId15"/>
    <p:sldId id="260" r:id="rId16"/>
    <p:sldId id="261" r:id="rId17"/>
    <p:sldId id="262" r:id="rId18"/>
    <p:sldId id="263" r:id="rId19"/>
    <p:sldId id="270" r:id="rId20"/>
    <p:sldId id="265" r:id="rId21"/>
    <p:sldId id="266" r:id="rId22"/>
    <p:sldId id="26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1D68AF-5103-BA8C-FE60-09E5EC15FCA8}" v="101" dt="2026-04-16T04:59:34.5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34FD79-A004-4C9E-8094-159B14A4D572}" type="datetimeFigureOut"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A7FEF7-68FE-4D6F-8651-8CF3D88FA87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482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6C3FC4">
              <a:alpha val="22000"/>
            </a:srgbClr>
          </a:solidFill>
          <a:ln w="12700">
            <a:solidFill>
              <a:srgbClr val="6C3FC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926080"/>
            <a:ext cx="2560320" cy="2560320"/>
          </a:xfrm>
          <a:prstGeom prst="ellipse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7548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754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411480" y="3200400"/>
            <a:ext cx="21945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4015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more from less — teach your model to see variety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/ TensorFlow  ·  CNN Series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6C3FC4">
              <a:alpha val="40000"/>
            </a:srgbClr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924044"/>
            <a:ext cx="8686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2  |  Slides 1–8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26341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We're Solving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FC4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09728" cy="1874520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this: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822960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500 photos of cats — all </a:t>
            </a:r>
            <a:r>
              <a:rPr lang="en-US" sz="12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 upright, facing the camera.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train your CNN. It learns perfectly. Then you test it on a cat 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lying sideways.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fails. Why?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 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ever saw cats in one position.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model is rigid.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310896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3108960"/>
            <a:ext cx="269748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13639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Too few images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3675888"/>
            <a:ext cx="24871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photo collection is slow, expensive, sometimes impossible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310896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FC4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3108960"/>
            <a:ext cx="2697480" cy="475488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313639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🧊  Model is rigid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82696" y="3675888"/>
            <a:ext cx="24871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on upright cats → fails on sideways cats. No generalisation.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71616" y="310896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3108960"/>
            <a:ext cx="2697480" cy="4754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3056" y="313639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Poor accuracy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81344" y="3675888"/>
            <a:ext cx="24871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variety in training = low accuracy on real-world test data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924044"/>
            <a:ext cx="8686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→ Data Augmentation: artificially create more training variety from existing images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0533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Analogy: The Photographer's Trick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97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FC4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297680" cy="475488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7899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🪑  The Story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627632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photographer is hired to teach a child to recognise a "chair."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has only ONE chair in her studio.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she go out and buy 10,000 different chairs?  No.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Instead, she photographs the SAME chair: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From the front, side, and back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In bright light and dim light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Up close and far away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Tilted slightly left, then slightly right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With shadows, without shadows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child sees the chair in 50+ different situations — and can recognise any chair, anywhere.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That is exactly what Data Augmentation does for your CNN.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393192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64608" y="11704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Your CNN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73168" y="1664208"/>
            <a:ext cx="3931920" cy="566928"/>
          </a:xfrm>
          <a:prstGeom prst="rect">
            <a:avLst/>
          </a:prstGeom>
          <a:solidFill>
            <a:srgbClr val="1A1A35"/>
          </a:solidFill>
          <a:ln w="12700">
            <a:solidFill>
              <a:srgbClr val="2D2D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7556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500 cat photos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37960" y="17556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30568" y="175564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→ 5,000+ versions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73168" y="2304288"/>
            <a:ext cx="3931920" cy="566928"/>
          </a:xfrm>
          <a:prstGeom prst="rect">
            <a:avLst/>
          </a:prstGeom>
          <a:solidFill>
            <a:srgbClr val="1A1A35"/>
          </a:solidFill>
          <a:ln w="12700">
            <a:solidFill>
              <a:srgbClr val="2D2D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3957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trains on each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37960" y="23957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30568" y="239572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cat flipped, rotated, dark, zoomed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73168" y="2944368"/>
            <a:ext cx="3931920" cy="566928"/>
          </a:xfrm>
          <a:prstGeom prst="rect">
            <a:avLst/>
          </a:prstGeom>
          <a:solidFill>
            <a:srgbClr val="1A1A35"/>
          </a:solidFill>
          <a:ln w="12700">
            <a:solidFill>
              <a:srgbClr val="2D2D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0358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x_train shape?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37960" y="30358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30568" y="303580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— no new rows added!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73168" y="3584448"/>
            <a:ext cx="3931920" cy="566928"/>
          </a:xfrm>
          <a:prstGeom prst="rect">
            <a:avLst/>
          </a:prstGeom>
          <a:solidFill>
            <a:srgbClr val="1A1A35"/>
          </a:solidFill>
          <a:ln w="12700">
            <a:solidFill>
              <a:srgbClr val="2D2D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6758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it happen?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37960" y="367588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30568" y="367588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memory, on-the-fly, every epoch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73168" y="4224528"/>
            <a:ext cx="3931920" cy="566928"/>
          </a:xfrm>
          <a:prstGeom prst="rect">
            <a:avLst/>
          </a:prstGeom>
          <a:solidFill>
            <a:srgbClr val="1A1A35"/>
          </a:solidFill>
          <a:ln w="12700">
            <a:solidFill>
              <a:srgbClr val="2D2D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43159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/ Test set?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37960" y="43159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30568" y="431596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augmented — stays real-world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30102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Augmentation Techniques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2670048" cy="1783080"/>
          </a:xfrm>
          <a:prstGeom prst="rect">
            <a:avLst/>
          </a:prstGeom>
          <a:solidFill>
            <a:srgbClr val="161630"/>
          </a:solidFill>
          <a:ln w="12700">
            <a:solidFill>
              <a:srgbClr val="6C3FC4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78992"/>
            <a:ext cx="2670048" cy="73152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52144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32688" y="1188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Flip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32688" y="1536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facing right = cat facing left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313432"/>
            <a:ext cx="2487168" cy="402336"/>
          </a:xfrm>
          <a:prstGeom prst="rect">
            <a:avLst/>
          </a:prstGeom>
          <a:solidFill>
            <a:srgbClr val="0A0A1A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2313432"/>
            <a:ext cx="2450592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RandomFlip('horizontal')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72968" y="1078992"/>
            <a:ext cx="2670048" cy="1783080"/>
          </a:xfrm>
          <a:prstGeom prst="rect">
            <a:avLst/>
          </a:prstGeom>
          <a:solidFill>
            <a:srgbClr val="161630"/>
          </a:solidFill>
          <a:ln w="1270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078992"/>
            <a:ext cx="2670048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72968" y="1152144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831336" y="1188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831336" y="1536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aren't always perfectly upright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64408" y="2313432"/>
            <a:ext cx="2487168" cy="402336"/>
          </a:xfrm>
          <a:prstGeom prst="rect">
            <a:avLst/>
          </a:prstGeom>
          <a:solidFill>
            <a:srgbClr val="0A0A1A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313432"/>
            <a:ext cx="2450592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RandomRotation(0.2)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71616" y="1078992"/>
            <a:ext cx="2670048" cy="1783080"/>
          </a:xfrm>
          <a:prstGeom prst="rect">
            <a:avLst/>
          </a:prstGeom>
          <a:solidFill>
            <a:srgbClr val="161630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1078992"/>
            <a:ext cx="2670048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71616" y="1152144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729984" y="1188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729984" y="1536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can appear near or far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63056" y="2313432"/>
            <a:ext cx="2487168" cy="402336"/>
          </a:xfrm>
          <a:prstGeom prst="rect">
            <a:avLst/>
          </a:prstGeom>
          <a:solidFill>
            <a:srgbClr val="0A0A1A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0488" y="2313432"/>
            <a:ext cx="2450592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RandomZoom(0.2)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017520"/>
            <a:ext cx="2670048" cy="1783080"/>
          </a:xfrm>
          <a:prstGeom prst="rect">
            <a:avLst/>
          </a:prstGeom>
          <a:solidFill>
            <a:srgbClr val="161630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017520"/>
            <a:ext cx="2670048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090672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🌗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32688" y="3127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32688" y="3474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vs outdoor lighting varies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251960"/>
            <a:ext cx="2487168" cy="402336"/>
          </a:xfrm>
          <a:prstGeom prst="rect">
            <a:avLst/>
          </a:prstGeom>
          <a:solidFill>
            <a:srgbClr val="0A0A1A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" y="4251960"/>
            <a:ext cx="2450592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RandomBrightness(0.3)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172968" y="3017520"/>
            <a:ext cx="2670048" cy="1783080"/>
          </a:xfrm>
          <a:prstGeom prst="rect">
            <a:avLst/>
          </a:prstGeom>
          <a:solidFill>
            <a:srgbClr val="161630"/>
          </a:solidFill>
          <a:ln w="12700">
            <a:solidFill>
              <a:srgbClr val="F9731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72968" y="3017520"/>
            <a:ext cx="2670048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72968" y="3090672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↕️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3831336" y="3127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3831336" y="3474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isn't always perfectly centred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64408" y="4251960"/>
            <a:ext cx="2487168" cy="402336"/>
          </a:xfrm>
          <a:prstGeom prst="rect">
            <a:avLst/>
          </a:prstGeom>
          <a:solidFill>
            <a:srgbClr val="0A0A1A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4251960"/>
            <a:ext cx="2450592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RandomTranslation(0.1, 0.1)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71616" y="3017520"/>
            <a:ext cx="2670048" cy="1783080"/>
          </a:xfrm>
          <a:prstGeom prst="rect">
            <a:avLst/>
          </a:prstGeom>
          <a:solidFill>
            <a:srgbClr val="161630"/>
          </a:solidFill>
          <a:ln w="12700">
            <a:solidFill>
              <a:srgbClr val="0EA5E9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71616" y="3017520"/>
            <a:ext cx="2670048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71616" y="3090672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🌫️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6729984" y="3127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729984" y="3474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cameras add pixel-level imperfections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63056" y="4251960"/>
            <a:ext cx="2487168" cy="402336"/>
          </a:xfrm>
          <a:prstGeom prst="rect">
            <a:avLst/>
          </a:prstGeom>
          <a:solidFill>
            <a:srgbClr val="0A0A1A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90488" y="4251960"/>
            <a:ext cx="2450592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GaussianNoise(0.05)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450605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The Most Common Misconception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68580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I augment x_train, does its shape / size change?"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874520"/>
            <a:ext cx="4160520" cy="3063240"/>
          </a:xfrm>
          <a:prstGeom prst="rect">
            <a:avLst/>
          </a:prstGeom>
          <a:solidFill>
            <a:srgbClr val="FFF1F1"/>
          </a:solidFill>
          <a:ln w="1270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874520"/>
            <a:ext cx="416052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01952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What students think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423160"/>
            <a:ext cx="3931920" cy="118872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2450592"/>
            <a:ext cx="3858768" cy="11338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x_train.shape = (1000, 224, 224, 3)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  augment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x_train.shape = (5000, 224, 224, 3)  ← WRONG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70332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imagine augmentation adds NEW rows to the array — like copying files into a folder.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what happens.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1874520"/>
            <a:ext cx="4160520" cy="3063240"/>
          </a:xfrm>
          <a:prstGeom prst="rect">
            <a:avLst/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874520"/>
            <a:ext cx="416052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901952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actually happens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18888" y="2423160"/>
            <a:ext cx="3931920" cy="118872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55464" y="2450592"/>
            <a:ext cx="3858768" cy="11338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x_train.shape = (1000, 224, 224, 3)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  augment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x_train.shape = (1000, 224, 224, 3)  ← SAME!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370332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epoch, every image gets a fresh random transform IN MEMORY — on-the-fly.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array is never modified.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6C3FC4">
              <a:alpha val="40000"/>
            </a:srgbClr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24044"/>
            <a:ext cx="8686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this: the photographer keeps the same 500 photos — but shows them differently every time she teaches.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46274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Apply — Code Implementation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4160520" cy="384048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4241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Method A — Layers Inside Model  (Recommended)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408176"/>
            <a:ext cx="4160520" cy="35844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463040"/>
            <a:ext cx="4005072" cy="34930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tensorflow.keras import layers, Sequential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Sequential([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1. Normalize pixels 0 →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layers.Rescaling(1./255),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2. Augmentation layers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   Auto-OFF at validation/test time ✅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layers.RandomFlip("horizontal"),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layers.RandomRotation(0.2),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layers.RandomZoom(0.1),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layers.RandomBrightness(0.2),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3. Your CNN as usual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layers.Conv2D(32, 3, activation='relu'),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layers.MaxPooling2D(),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layers.Flatten(),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layers.Dense(10, activation='softmax')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x_train shape stays EXACTLY the same!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y_train, epochs=30)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1024128"/>
            <a:ext cx="4160520" cy="38404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2312" y="104241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B — ImageDataGenerator  (Classic Keras)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408176"/>
            <a:ext cx="4160520" cy="35844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2312" y="1463040"/>
            <a:ext cx="4005072" cy="34930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keras.preprocessing.image import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ImageDataGenerator)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Normalize BEFORE augmentation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 = x_train / 255.0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x_val   = x_val   / 255.0  # NO augment!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datagen = ImageDataGenerator(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rotation_range    = 20,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horizontal_flip   = True,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zoom_range        = 0.2,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brightness_range  = [0.8, 1.2],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width_shift_range = 0.1,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datagen.fit(x_train)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Only x_train flows through augmentation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datagen.flow(x_train, y_train,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batch_size=32),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epochs=30,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validation_data=(x_val, y_val)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24044"/>
            <a:ext cx="8686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Prefer Method A — Keras auto-disables augmentation during evaluate() and predict(). No extra code needed.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154712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Tips for Data Augmentation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6984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508760"/>
            <a:ext cx="73152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581912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Try augmentation FIRST — it's one of the easiest wins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167128"/>
            <a:ext cx="4206240" cy="594360"/>
          </a:xfrm>
          <a:prstGeom prst="rect">
            <a:avLst/>
          </a:prstGeom>
          <a:solidFill>
            <a:srgbClr val="F0FFF4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167128"/>
            <a:ext cx="73152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2240280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ONLY to x_train — never validation or test sets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825496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825496"/>
            <a:ext cx="73152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2898648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Normalize your images BEFORE or AS part of augmentation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483864"/>
            <a:ext cx="4206240" cy="594360"/>
          </a:xfrm>
          <a:prstGeom prst="rect">
            <a:avLst/>
          </a:prstGeom>
          <a:solidFill>
            <a:srgbClr val="F0FFF4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483864"/>
            <a:ext cx="73152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3557016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Method A (layers inside model) for cleanest workflow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142232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4142232"/>
            <a:ext cx="73152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4215384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augmentation ALONE — don't change model depth at the same time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051560"/>
            <a:ext cx="420624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06984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DON'T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663440" y="1508760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1508760"/>
            <a:ext cx="73152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1581912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expect augmentation to fix a fundamentally bad model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167128"/>
            <a:ext cx="4206240" cy="594360"/>
          </a:xfrm>
          <a:prstGeom prst="rect">
            <a:avLst/>
          </a:prstGeom>
          <a:solidFill>
            <a:srgbClr val="FFF1F1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167128"/>
            <a:ext cx="73152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9744" y="2240280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stack every technique at once without testing individually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825496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2825496"/>
            <a:ext cx="73152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2898648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use augmentation if your dataset is already very large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3483864"/>
            <a:ext cx="4206240" cy="594360"/>
          </a:xfrm>
          <a:prstGeom prst="rect">
            <a:avLst/>
          </a:prstGeom>
          <a:solidFill>
            <a:srgbClr val="FFF1F1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3483864"/>
            <a:ext cx="73152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9744" y="3557016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forget: it helps generalisation, not just accuracy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4142232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4142232"/>
            <a:ext cx="73152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9744" y="4215384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apply aggressive flipping if orientation matters (e.g. text)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924044"/>
            <a:ext cx="8686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&lt; 10,000 images? Always try augmentation first. It's free, fast, and almost always helps.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21941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6C3FC4">
              <a:alpha val="18000"/>
            </a:srgbClr>
          </a:solidFill>
          <a:ln w="12700">
            <a:solidFill>
              <a:srgbClr val="6C3FC4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— Section Summary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694944"/>
          </a:xfrm>
          <a:prstGeom prst="rect">
            <a:avLst/>
          </a:prstGeom>
          <a:solidFill>
            <a:srgbClr val="1A1A35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188720"/>
            <a:ext cx="475488" cy="475488"/>
          </a:xfrm>
          <a:prstGeom prst="ellipse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88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9264" y="11338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9264" y="14630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Artificially creating image variations from existing data — flip, rotate, zoom, brightness changes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847088"/>
            <a:ext cx="8595360" cy="694944"/>
          </a:xfrm>
          <a:prstGeom prst="rect">
            <a:avLst/>
          </a:prstGeom>
          <a:solidFill>
            <a:srgbClr val="1A1A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956816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956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9264" y="1901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solves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9264" y="22311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datasets and lack of variety — gives your model more perspectives without collecting new photos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615184"/>
            <a:ext cx="8595360" cy="694944"/>
          </a:xfrm>
          <a:prstGeom prst="rect">
            <a:avLst/>
          </a:prstGeom>
          <a:solidFill>
            <a:srgbClr val="1A1A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724912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724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9264" y="26700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x_train size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9264" y="2999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changes. Augmentation happens in memory, per epoch, on-the-fly. Same array, infinite variety.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383280"/>
            <a:ext cx="8595360" cy="694944"/>
          </a:xfrm>
          <a:prstGeom prst="rect">
            <a:avLst/>
          </a:prstGeom>
          <a:solidFill>
            <a:srgbClr val="1A1A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3493008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493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9264" y="34381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apply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9264" y="37673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 training data. Validation and test sets stay untouched — they represent the real world.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151376"/>
            <a:ext cx="8595360" cy="694944"/>
          </a:xfrm>
          <a:prstGeom prst="rect">
            <a:avLst/>
          </a:prstGeom>
          <a:solidFill>
            <a:srgbClr val="1A1A35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4261104"/>
            <a:ext cx="475488" cy="47548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4261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9264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code it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9264" y="45354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 (layers inside model) is recommended. Keras auto-disables augmentation at test time for you.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6C3FC4">
              <a:alpha val="45000"/>
            </a:srgbClr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24044"/>
            <a:ext cx="8686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⏭  Up Next: Transfer Learning — borrowing a fully trained expert brain for your task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98475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B3A6B">
              <a:alpha val="35000"/>
            </a:srgbClr>
          </a:solidFill>
          <a:ln w="12700">
            <a:solidFill>
              <a:srgbClr val="1B3A6B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64008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Pre-Trained CNN Models for Your Own Tasks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 •  Analogies  •  Architecture  •  Code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 |  CNN  |  MobileNetV2  |  Fine-Tuning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Transfer Learning?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182880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😓  The 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Training from scratch is slow &amp; expensive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83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Needs thousands of labeled images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powerful GPUs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50545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 to tune hyperparameters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023360" cy="182880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Solution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5727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Borrow a model already trained by experts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883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retrain the final layers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1945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Start with 90%+ accuracy baseline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50545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 in minutes, not weeks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5196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891B2"/>
                </a:solidFill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8412480" cy="1143000"/>
          </a:xfrm>
          <a:prstGeom prst="rect">
            <a:avLst/>
          </a:prstGeom>
          <a:solidFill>
            <a:srgbClr val="E0F2F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090672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Analogy: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like you </a:t>
            </a: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 Python library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instead of writing everything from scratch,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lets you 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somebody else's trained model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build on top of it.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315968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Key Insight:  Experts spent millions of dollars training models on 1.4 million images. Transfer Learning lets YOU benefit from that investment for FREE.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848"/>
            <a:ext cx="9144000" cy="811033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4678" y="2551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🚗  Analogy</a:t>
            </a:r>
            <a:endParaRPr lang="en-US" sz="270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1389888"/>
          </a:xfrm>
          <a:prstGeom prst="rect">
            <a:avLst/>
          </a:prstGeom>
          <a:solidFill>
            <a:srgbClr val="0C3547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52144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you already know how to drive a car.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 ask you to learn how to drive a truck.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solidFill>
            <a:srgbClr val="0A1F1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24328"/>
            <a:ext cx="78638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start learning from zero?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822960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264408"/>
            <a:ext cx="80467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NO!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3950208"/>
            <a:ext cx="85953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3950208"/>
            <a:ext cx="109728" cy="10241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— because you already know things that transfer over.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43708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how to steer  ·  how to brake  ·  how to follow traffic rules.  You only need to adjust to the bigger size, wider turns, and different speed handling.  The core skills transfer. You only retrain the specifics.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318611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Arm Transplant Analogy 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115568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115568"/>
            <a:ext cx="27432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887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🪖  Original Soldier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709928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pre-trained model, skilled in identifying 1000 classes of objects.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950976"/>
            <a:ext cx="329184" cy="3291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960120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115568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15568"/>
            <a:ext cx="274320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1887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💉  Transplant New Arm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64408" y="1709928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amputate the last layer and attach our new classification layer (e.g. 10 classes).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50408" y="950976"/>
            <a:ext cx="329184" cy="32918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50408" y="960120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53328" y="1115568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53328" y="1115568"/>
            <a:ext cx="2743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11887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Antibiotics (Freeze!)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63056" y="1709928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freeze the original weights — the immune system can't reject the new arm.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49056" y="950976"/>
            <a:ext cx="329184" cy="3291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49056" y="960120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" y="3035808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3035808"/>
            <a:ext cx="27432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1089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 Rehab (Train Layer)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3630168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only the new layer for ~10 epochs until it stabilizes.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651760" y="2871216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2880360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54680" y="3035808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54680" y="3035808"/>
            <a:ext cx="274320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31089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 Remove Tourniquet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64408" y="3630168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the upper layers and let all weights interact and fine-tune together.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550408" y="2871216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50408" y="2880360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53328" y="3035808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53328" y="3035808"/>
            <a:ext cx="27432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44768" y="31089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🦾  New Skill Acquired!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163056" y="3630168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soldier now uses the new arm naturally — model achieves 97%+ accuracy!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449056" y="2871216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49056" y="2880360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CNN Layers Learn — The Building Blocks Theory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6148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761488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52144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Early Layers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72184"/>
            <a:ext cx="2578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(Generic Features)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801368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647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lines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258568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219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Curved edges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715768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791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gradients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172968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363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textures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538728"/>
            <a:ext cx="2578608" cy="73152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639312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 ALL images — animals, cars, books!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82112" y="1097280"/>
            <a:ext cx="276148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82112" y="1097280"/>
            <a:ext cx="2761488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1152144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Middle Layers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73552" y="1472184"/>
            <a:ext cx="2578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(Part Detectors)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19272" y="1801368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17647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&amp; ears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19272" y="2258568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47872" y="22219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Noses &amp; mouths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19272" y="2715768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7872" y="26791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Wheels &amp; wings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19272" y="3172968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47872" y="31363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 of objects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73552" y="3538728"/>
            <a:ext cx="2578608" cy="73152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3552" y="3639312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to the training domain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89904" y="1097280"/>
            <a:ext cx="276148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9904" y="1097280"/>
            <a:ext cx="2761488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81344" y="1152144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Final Layers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181344" y="1472184"/>
            <a:ext cx="2578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(Decision Maker)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27064" y="1801368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55664" y="17647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'This is a cat'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27064" y="2258568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55664" y="22219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'This is a dog'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27064" y="2715768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55664" y="26791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all clues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27064" y="3172968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55664" y="31363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N classes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181344" y="3538728"/>
            <a:ext cx="2578608" cy="73152"/>
          </a:xfrm>
          <a:prstGeom prst="rect">
            <a:avLst/>
          </a:prstGeom>
          <a:solidFill>
            <a:srgbClr val="F97316">
              <a:alpha val="40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81344" y="3639312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THIS is what we replace!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9718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5879592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274320" y="4315968"/>
            <a:ext cx="859536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38912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 Transfer Learning: we KEEP early + middle layers (generic knowledge) and REPLACE only the final layer (decision) with our own.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178904" y="663"/>
            <a:ext cx="8686800" cy="5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600" b="1" dirty="0">
                <a:solidFill>
                  <a:srgbClr val="FFFFFF"/>
                </a:solidFill>
                <a:latin typeface="Calibri"/>
              </a:rPr>
              <a:t>🧱  Transfer Learning — Block Diagram</a:t>
            </a:r>
          </a:p>
        </p:txBody>
      </p:sp>
      <p:sp>
        <p:nvSpPr>
          <p:cNvPr id="3" name="SubTitle"/>
          <p:cNvSpPr/>
          <p:nvPr/>
        </p:nvSpPr>
        <p:spPr>
          <a:xfrm>
            <a:off x="178904" y="501217"/>
            <a:ext cx="86868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 dirty="0">
                <a:solidFill>
                  <a:srgbClr val="6EE7B7"/>
                </a:solidFill>
                <a:latin typeface="Calibri"/>
              </a:rPr>
              <a:t>❄ FROZEN </a:t>
            </a:r>
            <a:r>
              <a:rPr lang="en-US" sz="1100" b="0" dirty="0">
                <a:solidFill>
                  <a:srgbClr val="9CA3AF"/>
                </a:solidFill>
                <a:latin typeface="Calibri"/>
              </a:rPr>
              <a:t>= weights locked, no backprop    </a:t>
            </a:r>
            <a:r>
              <a:rPr lang="en-US" sz="1100" b="1" dirty="0">
                <a:solidFill>
                  <a:srgbClr val="FCD34D"/>
                </a:solidFill>
                <a:latin typeface="Calibri"/>
              </a:rPr>
              <a:t>🔥 TRAINABLE </a:t>
            </a:r>
            <a:r>
              <a:rPr lang="en-US" sz="1100" b="0" dirty="0">
                <a:solidFill>
                  <a:srgbClr val="9CA3AF"/>
                </a:solidFill>
                <a:latin typeface="Calibri"/>
              </a:rPr>
              <a:t>= weights updated during training    </a:t>
            </a:r>
            <a:r>
              <a:rPr lang="en-US" sz="1100" b="1" dirty="0">
                <a:solidFill>
                  <a:srgbClr val="F87171"/>
                </a:solidFill>
                <a:latin typeface="Calibri"/>
              </a:rPr>
              <a:t>✂ REPLACED </a:t>
            </a:r>
            <a:r>
              <a:rPr lang="en-US" sz="1100" b="0" dirty="0">
                <a:solidFill>
                  <a:srgbClr val="9CA3AF"/>
                </a:solidFill>
                <a:latin typeface="Calibri"/>
              </a:rPr>
              <a:t>= new layers added for YOUR task</a:t>
            </a:r>
          </a:p>
        </p:txBody>
      </p:sp>
      <p:sp>
        <p:nvSpPr>
          <p:cNvPr id="10" name="InputBG"/>
          <p:cNvSpPr/>
          <p:nvPr/>
        </p:nvSpPr>
        <p:spPr>
          <a:xfrm>
            <a:off x="228600" y="1100000"/>
            <a:ext cx="1280000" cy="520000"/>
          </a:xfrm>
          <a:prstGeom prst="roundRect">
            <a:avLst>
              <a:gd name="adj" fmla="val 20000"/>
            </a:avLst>
          </a:prstGeom>
          <a:solidFill>
            <a:srgbClr val="374151"/>
          </a:solidFill>
          <a:ln w="25400">
            <a:solidFill>
              <a:srgbClr val="6B7280"/>
            </a:solidFill>
          </a:ln>
        </p:spPr>
      </p:sp>
      <p:sp>
        <p:nvSpPr>
          <p:cNvPr id="11" name="InputText"/>
          <p:cNvSpPr/>
          <p:nvPr/>
        </p:nvSpPr>
        <p:spPr>
          <a:xfrm>
            <a:off x="228600" y="1100000"/>
            <a:ext cx="1280000" cy="52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🖼 Input Image</a:t>
            </a:r>
          </a:p>
          <a:p>
            <a:pPr algn="ctr"/>
            <a:r>
              <a:rPr lang="en-US" sz="900" dirty="0">
                <a:solidFill>
                  <a:srgbClr val="9CA3AF"/>
                </a:solidFill>
                <a:latin typeface="Calibri"/>
              </a:rPr>
              <a:t>224 x 224 x 3</a:t>
            </a:r>
          </a:p>
        </p:txBody>
      </p:sp>
      <p:sp>
        <p:nvSpPr>
          <p:cNvPr id="12" name="Arrow1"/>
          <p:cNvSpPr/>
          <p:nvPr/>
        </p:nvSpPr>
        <p:spPr>
          <a:xfrm>
            <a:off x="1508600" y="1300000"/>
            <a:ext cx="300000" cy="12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B7280"/>
          </a:solidFill>
          <a:ln w="0">
            <a:noFill/>
          </a:ln>
        </p:spPr>
      </p:sp>
      <p:sp>
        <p:nvSpPr>
          <p:cNvPr id="20" name="PretrainedLabel"/>
          <p:cNvSpPr/>
          <p:nvPr/>
        </p:nvSpPr>
        <p:spPr>
          <a:xfrm>
            <a:off x="1803752" y="797783"/>
            <a:ext cx="5300000" cy="28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000" b="1" dirty="0">
                <a:solidFill>
                  <a:srgbClr val="A78BFA"/>
                </a:solidFill>
                <a:latin typeface="Calibri"/>
              </a:rPr>
              <a:t>PRE-TRAINED BASE MODEL  (e.g., MobileNetV2)</a:t>
            </a:r>
          </a:p>
        </p:txBody>
      </p:sp>
      <p:sp>
        <p:nvSpPr>
          <p:cNvPr id="21" name="FrozenLayer1BG"/>
          <p:cNvSpPr/>
          <p:nvPr/>
        </p:nvSpPr>
        <p:spPr>
          <a:xfrm>
            <a:off x="1828600" y="1100000"/>
            <a:ext cx="1400000" cy="100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 w="38100">
            <a:solidFill>
              <a:srgbClr val="6EE7B7"/>
            </a:solidFill>
          </a:ln>
        </p:spPr>
      </p:sp>
      <p:sp>
        <p:nvSpPr>
          <p:cNvPr id="22" name="FrozenLayer1Text"/>
          <p:cNvSpPr/>
          <p:nvPr/>
        </p:nvSpPr>
        <p:spPr>
          <a:xfrm>
            <a:off x="1828600" y="1100000"/>
            <a:ext cx="1400000" cy="10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200" b="1" dirty="0">
                <a:solidFill>
                  <a:srgbClr val="6EE7B7"/>
                </a:solidFill>
                <a:latin typeface="Calibri"/>
              </a:rPr>
              <a:t>❄ Early Layers</a:t>
            </a:r>
          </a:p>
          <a:p>
            <a:pPr algn="ctr"/>
            <a:r>
              <a:rPr lang="en-US" sz="900" dirty="0">
                <a:solidFill>
                  <a:srgbClr val="A7F3D0"/>
                </a:solidFill>
                <a:latin typeface="Calibri"/>
              </a:rPr>
              <a:t>Edges &amp; Lines</a:t>
            </a:r>
          </a:p>
          <a:p>
            <a:pPr algn="ctr"/>
            <a:r>
              <a:rPr lang="en-US" sz="900" dirty="0">
                <a:solidFill>
                  <a:srgbClr val="A7F3D0"/>
                </a:solidFill>
                <a:latin typeface="Calibri"/>
              </a:rPr>
              <a:t>Corners &amp; Curves</a:t>
            </a:r>
          </a:p>
          <a:p>
            <a:endParaRPr lang="en-US" sz="700" dirty="0"/>
          </a:p>
          <a:p>
            <a:pPr algn="ctr"/>
            <a:r>
              <a:rPr lang="en-US" sz="900" b="1" dirty="0">
                <a:solidFill>
                  <a:srgbClr val="6EE7B7"/>
                </a:solidFill>
                <a:latin typeface="Calibri"/>
              </a:rPr>
              <a:t>FROZEN</a:t>
            </a:r>
          </a:p>
          <a:p>
            <a:pPr algn="ctr"/>
            <a:r>
              <a:rPr lang="en-US" sz="850" i="1" dirty="0">
                <a:solidFill>
                  <a:srgbClr val="6EE7B7"/>
                </a:solidFill>
                <a:latin typeface="Calibri"/>
              </a:rPr>
              <a:t>Universal features</a:t>
            </a:r>
          </a:p>
        </p:txBody>
      </p:sp>
      <p:sp>
        <p:nvSpPr>
          <p:cNvPr id="23" name="Arrow2"/>
          <p:cNvSpPr/>
          <p:nvPr/>
        </p:nvSpPr>
        <p:spPr>
          <a:xfrm>
            <a:off x="3228600" y="1550000"/>
            <a:ext cx="250000" cy="1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EE7B7"/>
          </a:solidFill>
          <a:ln w="0">
            <a:noFill/>
          </a:ln>
        </p:spPr>
      </p:sp>
      <p:sp>
        <p:nvSpPr>
          <p:cNvPr id="24" name="FrozenLayer2BG"/>
          <p:cNvSpPr/>
          <p:nvPr/>
        </p:nvSpPr>
        <p:spPr>
          <a:xfrm>
            <a:off x="3478600" y="1100000"/>
            <a:ext cx="1400000" cy="100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 w="38100">
            <a:solidFill>
              <a:srgbClr val="6EE7B7"/>
            </a:solidFill>
          </a:ln>
        </p:spPr>
      </p:sp>
      <p:sp>
        <p:nvSpPr>
          <p:cNvPr id="25" name="FrozenLayer2Text"/>
          <p:cNvSpPr/>
          <p:nvPr/>
        </p:nvSpPr>
        <p:spPr>
          <a:xfrm>
            <a:off x="3478600" y="1100000"/>
            <a:ext cx="1400000" cy="10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200" b="1" dirty="0">
                <a:solidFill>
                  <a:srgbClr val="6EE7B7"/>
                </a:solidFill>
                <a:latin typeface="Calibri"/>
              </a:rPr>
              <a:t>❄ Mid Layers</a:t>
            </a:r>
          </a:p>
          <a:p>
            <a:pPr algn="ctr"/>
            <a:r>
              <a:rPr lang="en-US" sz="900" dirty="0">
                <a:solidFill>
                  <a:srgbClr val="A7F3D0"/>
                </a:solidFill>
                <a:latin typeface="Calibri"/>
              </a:rPr>
              <a:t>Textures &amp; Patterns</a:t>
            </a:r>
          </a:p>
          <a:p>
            <a:pPr algn="ctr"/>
            <a:r>
              <a:rPr lang="en-US" sz="900" dirty="0">
                <a:solidFill>
                  <a:srgbClr val="A7F3D0"/>
                </a:solidFill>
                <a:latin typeface="Calibri"/>
              </a:rPr>
              <a:t>Shapes &amp; Gradients</a:t>
            </a:r>
          </a:p>
          <a:p>
            <a:endParaRPr lang="en-US" sz="700" dirty="0"/>
          </a:p>
          <a:p>
            <a:pPr algn="ctr"/>
            <a:r>
              <a:rPr lang="en-US" sz="900" b="1" dirty="0">
                <a:solidFill>
                  <a:srgbClr val="6EE7B7"/>
                </a:solidFill>
                <a:latin typeface="Calibri"/>
              </a:rPr>
              <a:t>FROZEN</a:t>
            </a:r>
          </a:p>
          <a:p>
            <a:pPr algn="ctr"/>
            <a:r>
              <a:rPr lang="en-US" sz="850" i="1" dirty="0">
                <a:solidFill>
                  <a:srgbClr val="6EE7B7"/>
                </a:solidFill>
                <a:latin typeface="Calibri"/>
              </a:rPr>
              <a:t>General features</a:t>
            </a:r>
          </a:p>
        </p:txBody>
      </p:sp>
      <p:sp>
        <p:nvSpPr>
          <p:cNvPr id="26" name="Arrow3"/>
          <p:cNvSpPr/>
          <p:nvPr/>
        </p:nvSpPr>
        <p:spPr>
          <a:xfrm>
            <a:off x="4878600" y="1550000"/>
            <a:ext cx="250000" cy="1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CD34D"/>
          </a:solidFill>
          <a:ln w="0">
            <a:noFill/>
          </a:ln>
        </p:spPr>
      </p:sp>
      <p:sp>
        <p:nvSpPr>
          <p:cNvPr id="27" name="TrainableLayerBG"/>
          <p:cNvSpPr/>
          <p:nvPr/>
        </p:nvSpPr>
        <p:spPr>
          <a:xfrm>
            <a:off x="5128600" y="1100000"/>
            <a:ext cx="1400000" cy="1000000"/>
          </a:xfrm>
          <a:prstGeom prst="roundRect">
            <a:avLst>
              <a:gd name="adj" fmla="val 10000"/>
            </a:avLst>
          </a:prstGeom>
          <a:solidFill>
            <a:srgbClr val="451A03"/>
          </a:solidFill>
          <a:ln w="38100">
            <a:solidFill>
              <a:srgbClr val="FCD34D"/>
            </a:solidFill>
          </a:ln>
        </p:spPr>
      </p:sp>
      <p:sp>
        <p:nvSpPr>
          <p:cNvPr id="28" name="TrainableLayerText"/>
          <p:cNvSpPr/>
          <p:nvPr/>
        </p:nvSpPr>
        <p:spPr>
          <a:xfrm>
            <a:off x="5128600" y="1100000"/>
            <a:ext cx="1400000" cy="10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200" b="1" dirty="0">
                <a:solidFill>
                  <a:srgbClr val="FCD34D"/>
                </a:solidFill>
                <a:latin typeface="Calibri"/>
              </a:rPr>
              <a:t>🔥 Deep Layers</a:t>
            </a:r>
          </a:p>
          <a:p>
            <a:pPr algn="ctr"/>
            <a:r>
              <a:rPr lang="en-US" sz="900" dirty="0">
                <a:solidFill>
                  <a:srgbClr val="FEF3C7"/>
                </a:solidFill>
                <a:latin typeface="Calibri"/>
              </a:rPr>
              <a:t>Object Parts</a:t>
            </a:r>
          </a:p>
          <a:p>
            <a:pPr algn="ctr"/>
            <a:r>
              <a:rPr lang="en-US" sz="900" dirty="0">
                <a:solidFill>
                  <a:srgbClr val="FEF3C7"/>
                </a:solidFill>
                <a:latin typeface="Calibri"/>
              </a:rPr>
              <a:t>High-level Semantics</a:t>
            </a:r>
          </a:p>
          <a:p>
            <a:endParaRPr lang="en-US" sz="700" dirty="0"/>
          </a:p>
          <a:p>
            <a:pPr algn="ctr"/>
            <a:r>
              <a:rPr lang="en-US" sz="900" b="1" dirty="0">
                <a:solidFill>
                  <a:srgbClr val="FCD34D"/>
                </a:solidFill>
                <a:latin typeface="Calibri"/>
              </a:rPr>
              <a:t>FINE-TUNE</a:t>
            </a:r>
          </a:p>
          <a:p>
            <a:pPr algn="ctr"/>
            <a:r>
              <a:rPr lang="en-US" sz="850" i="1" dirty="0">
                <a:solidFill>
                  <a:srgbClr val="FCD34D"/>
                </a:solidFill>
                <a:latin typeface="Calibri"/>
              </a:rPr>
              <a:t>LR = 1e-5 (tiny!)</a:t>
            </a:r>
          </a:p>
        </p:txBody>
      </p:sp>
      <p:sp>
        <p:nvSpPr>
          <p:cNvPr id="30" name="Arrow4"/>
          <p:cNvSpPr/>
          <p:nvPr/>
        </p:nvSpPr>
        <p:spPr>
          <a:xfrm>
            <a:off x="6528600" y="1550000"/>
            <a:ext cx="250000" cy="1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87171"/>
          </a:solidFill>
          <a:ln w="0">
            <a:noFill/>
          </a:ln>
        </p:spPr>
      </p:sp>
      <p:sp>
        <p:nvSpPr>
          <p:cNvPr id="31" name="NewHeadLabel"/>
          <p:cNvSpPr/>
          <p:nvPr/>
        </p:nvSpPr>
        <p:spPr>
          <a:xfrm>
            <a:off x="6778600" y="1020000"/>
            <a:ext cx="2136800" cy="30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100" b="1" dirty="0">
                <a:solidFill>
                  <a:srgbClr val="F87171"/>
                </a:solidFill>
                <a:latin typeface="Calibri"/>
              </a:rPr>
              <a:t>YOUR NEW HEAD</a:t>
            </a:r>
          </a:p>
        </p:txBody>
      </p:sp>
      <p:sp>
        <p:nvSpPr>
          <p:cNvPr id="32" name="GAPBg"/>
          <p:cNvSpPr/>
          <p:nvPr/>
        </p:nvSpPr>
        <p:spPr>
          <a:xfrm>
            <a:off x="6778600" y="1100000"/>
            <a:ext cx="2136800" cy="380000"/>
          </a:xfrm>
          <a:prstGeom prst="roundRect">
            <a:avLst>
              <a:gd name="adj" fmla="val 10000"/>
            </a:avLst>
          </a:prstGeom>
          <a:solidFill>
            <a:srgbClr val="7F1D1D"/>
          </a:solidFill>
          <a:ln w="38100">
            <a:solidFill>
              <a:srgbClr val="F87171"/>
            </a:solidFill>
          </a:ln>
        </p:spPr>
      </p:sp>
      <p:sp>
        <p:nvSpPr>
          <p:cNvPr id="33" name="GAPText"/>
          <p:cNvSpPr/>
          <p:nvPr/>
        </p:nvSpPr>
        <p:spPr>
          <a:xfrm>
            <a:off x="6778600" y="1100000"/>
            <a:ext cx="2136800" cy="38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✂ GlobalAveragePooling2D</a:t>
            </a:r>
          </a:p>
          <a:p>
            <a:pPr algn="ctr"/>
            <a:r>
              <a:rPr lang="en-US" sz="850" dirty="0">
                <a:solidFill>
                  <a:srgbClr val="FCA5A5"/>
                </a:solidFill>
                <a:latin typeface="Calibri"/>
              </a:rPr>
              <a:t>Flatten feature maps</a:t>
            </a:r>
          </a:p>
        </p:txBody>
      </p:sp>
      <p:sp>
        <p:nvSpPr>
          <p:cNvPr id="34" name="Arrow5"/>
          <p:cNvSpPr/>
          <p:nvPr/>
        </p:nvSpPr>
        <p:spPr>
          <a:xfrm rot="5400000">
            <a:off x="7847000" y="1510000"/>
            <a:ext cx="220000" cy="9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87171"/>
          </a:solidFill>
          <a:ln w="0">
            <a:noFill/>
          </a:ln>
        </p:spPr>
      </p:sp>
      <p:sp>
        <p:nvSpPr>
          <p:cNvPr id="35" name="Dense1BG"/>
          <p:cNvSpPr/>
          <p:nvPr/>
        </p:nvSpPr>
        <p:spPr>
          <a:xfrm>
            <a:off x="6778600" y="1650000"/>
            <a:ext cx="2136800" cy="340000"/>
          </a:xfrm>
          <a:prstGeom prst="roundRect">
            <a:avLst>
              <a:gd name="adj" fmla="val 10000"/>
            </a:avLst>
          </a:prstGeom>
          <a:solidFill>
            <a:srgbClr val="7F1D1D"/>
          </a:solidFill>
          <a:ln w="38100">
            <a:solidFill>
              <a:srgbClr val="F87171"/>
            </a:solidFill>
          </a:ln>
        </p:spPr>
      </p:sp>
      <p:sp>
        <p:nvSpPr>
          <p:cNvPr id="36" name="Dense1Text"/>
          <p:cNvSpPr/>
          <p:nvPr/>
        </p:nvSpPr>
        <p:spPr>
          <a:xfrm>
            <a:off x="6778600" y="1650000"/>
            <a:ext cx="2136800" cy="34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✂ Dense(128, relu)</a:t>
            </a:r>
          </a:p>
          <a:p>
            <a:pPr algn="ctr"/>
            <a:r>
              <a:rPr lang="en-US" sz="850" dirty="0">
                <a:solidFill>
                  <a:srgbClr val="FCA5A5"/>
                </a:solidFill>
                <a:latin typeface="Calibri"/>
              </a:rPr>
              <a:t>Dropout(0.3) — optional</a:t>
            </a:r>
          </a:p>
        </p:txBody>
      </p:sp>
      <p:sp>
        <p:nvSpPr>
          <p:cNvPr id="37" name="Arrow6"/>
          <p:cNvSpPr/>
          <p:nvPr/>
        </p:nvSpPr>
        <p:spPr>
          <a:xfrm rot="5400000">
            <a:off x="7847000" y="2020000"/>
            <a:ext cx="220000" cy="9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87171"/>
          </a:solidFill>
          <a:ln w="0">
            <a:noFill/>
          </a:ln>
        </p:spPr>
      </p:sp>
      <p:sp>
        <p:nvSpPr>
          <p:cNvPr id="38" name="OutputBG"/>
          <p:cNvSpPr/>
          <p:nvPr/>
        </p:nvSpPr>
        <p:spPr>
          <a:xfrm>
            <a:off x="6778600" y="2160000"/>
            <a:ext cx="2136800" cy="360000"/>
          </a:xfrm>
          <a:prstGeom prst="roundRect">
            <a:avLst>
              <a:gd name="adj" fmla="val 10000"/>
            </a:avLst>
          </a:prstGeom>
          <a:solidFill>
            <a:srgbClr val="7F1D1D"/>
          </a:solidFill>
          <a:ln w="50800">
            <a:solidFill>
              <a:srgbClr val="F87171"/>
            </a:solidFill>
          </a:ln>
        </p:spPr>
      </p:sp>
      <p:sp>
        <p:nvSpPr>
          <p:cNvPr id="39" name="OutputText"/>
          <p:cNvSpPr/>
          <p:nvPr/>
        </p:nvSpPr>
        <p:spPr>
          <a:xfrm>
            <a:off x="6778600" y="2160000"/>
            <a:ext cx="2136800" cy="36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✂ Dense(N, softmax)</a:t>
            </a:r>
          </a:p>
          <a:p>
            <a:pPr algn="ctr"/>
            <a:r>
              <a:rPr lang="en-US" sz="900" dirty="0">
                <a:solidFill>
                  <a:srgbClr val="FCA5A5"/>
                </a:solidFill>
                <a:latin typeface="Calibri"/>
              </a:rPr>
              <a:t>N = your number of classes</a:t>
            </a:r>
          </a:p>
        </p:txBody>
      </p:sp>
      <p:sp>
        <p:nvSpPr>
          <p:cNvPr id="50" name="PhaseLabel"/>
          <p:cNvSpPr/>
          <p:nvPr/>
        </p:nvSpPr>
        <p:spPr>
          <a:xfrm>
            <a:off x="303143" y="2517783"/>
            <a:ext cx="8686800" cy="2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 dirty="0">
                <a:solidFill>
                  <a:srgbClr val="E2E8F0"/>
                </a:solidFill>
                <a:latin typeface="Calibri"/>
              </a:rPr>
              <a:t>TRAINING PHASES:</a:t>
            </a:r>
          </a:p>
        </p:txBody>
      </p:sp>
      <p:sp>
        <p:nvSpPr>
          <p:cNvPr id="51" name="Phase1BG"/>
          <p:cNvSpPr/>
          <p:nvPr/>
        </p:nvSpPr>
        <p:spPr>
          <a:xfrm>
            <a:off x="303144" y="2837782"/>
            <a:ext cx="4200000" cy="1100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25400">
            <a:solidFill>
              <a:srgbClr val="60A5FA"/>
            </a:solidFill>
          </a:ln>
        </p:spPr>
      </p:sp>
      <p:sp>
        <p:nvSpPr>
          <p:cNvPr id="52" name="Phase1Text"/>
          <p:cNvSpPr/>
          <p:nvPr/>
        </p:nvSpPr>
        <p:spPr>
          <a:xfrm>
            <a:off x="391109" y="2803239"/>
            <a:ext cx="4060000" cy="1020000"/>
          </a:xfrm>
          <a:prstGeom prst="rect">
            <a:avLst/>
          </a:prstGeom>
          <a:noFill/>
        </p:spPr>
        <p:txBody>
          <a:bodyPr lIns="91440" tIns="91440" rIns="91440" bIns="91440"/>
          <a:lstStyle/>
          <a:p>
            <a:r>
              <a:rPr lang="en-US" sz="1300" b="1" dirty="0">
                <a:solidFill>
                  <a:srgbClr val="60A5FA"/>
                </a:solidFill>
                <a:latin typeface="Calibri"/>
              </a:rPr>
              <a:t>❄ PHASE 1 — Freeze &amp; Train Head</a:t>
            </a:r>
          </a:p>
          <a:p>
            <a:r>
              <a:rPr lang="en-US" sz="1000" dirty="0">
                <a:solidFill>
                  <a:srgbClr val="BFDBFE"/>
                </a:solidFill>
                <a:latin typeface="Calibri"/>
              </a:rPr>
              <a:t>base.trainable = False</a:t>
            </a:r>
          </a:p>
          <a:p>
            <a:r>
              <a:rPr lang="en-US" sz="1000" dirty="0">
                <a:solidFill>
                  <a:srgbClr val="BFDBFE"/>
                </a:solidFill>
                <a:latin typeface="Calibri"/>
              </a:rPr>
              <a:t>Train ONLY the new head (~10 epochs)</a:t>
            </a:r>
          </a:p>
          <a:p>
            <a:r>
              <a:rPr lang="en-US" sz="1000" dirty="0">
                <a:solidFill>
                  <a:srgbClr val="BFDBFE"/>
                </a:solidFill>
                <a:latin typeface="Calibri"/>
              </a:rPr>
              <a:t>optimizer = Adam(lr=1e-3)</a:t>
            </a:r>
          </a:p>
        </p:txBody>
      </p:sp>
      <p:sp>
        <p:nvSpPr>
          <p:cNvPr id="53" name="Arrow7"/>
          <p:cNvSpPr/>
          <p:nvPr/>
        </p:nvSpPr>
        <p:spPr>
          <a:xfrm>
            <a:off x="4516565" y="3329500"/>
            <a:ext cx="300000" cy="12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CA3AF"/>
          </a:solidFill>
          <a:ln w="0">
            <a:noFill/>
          </a:ln>
        </p:spPr>
      </p:sp>
      <p:sp>
        <p:nvSpPr>
          <p:cNvPr id="54" name="Phase2BG"/>
          <p:cNvSpPr/>
          <p:nvPr/>
        </p:nvSpPr>
        <p:spPr>
          <a:xfrm>
            <a:off x="4880000" y="2837783"/>
            <a:ext cx="4035400" cy="1100000"/>
          </a:xfrm>
          <a:prstGeom prst="roundRect">
            <a:avLst>
              <a:gd name="adj" fmla="val 10000"/>
            </a:avLst>
          </a:prstGeom>
          <a:solidFill>
            <a:srgbClr val="2D1B00"/>
          </a:solidFill>
          <a:ln w="25400">
            <a:solidFill>
              <a:srgbClr val="FCD34D"/>
            </a:solidFill>
          </a:ln>
        </p:spPr>
      </p:sp>
      <p:sp>
        <p:nvSpPr>
          <p:cNvPr id="55" name="Phase2Text"/>
          <p:cNvSpPr/>
          <p:nvPr/>
        </p:nvSpPr>
        <p:spPr>
          <a:xfrm>
            <a:off x="4950000" y="2902630"/>
            <a:ext cx="3900000" cy="1020000"/>
          </a:xfrm>
          <a:prstGeom prst="rect">
            <a:avLst/>
          </a:prstGeom>
          <a:noFill/>
        </p:spPr>
        <p:txBody>
          <a:bodyPr lIns="91440" tIns="91440" rIns="91440" bIns="91440"/>
          <a:lstStyle/>
          <a:p>
            <a:r>
              <a:rPr lang="en-US" sz="1300" b="1" dirty="0">
                <a:solidFill>
                  <a:srgbClr val="FCD34D"/>
                </a:solidFill>
                <a:latin typeface="Calibri"/>
              </a:rPr>
              <a:t>🔥 PHASE 2 — Unfreeze &amp; Fine-Tune</a:t>
            </a:r>
          </a:p>
          <a:p>
            <a:r>
              <a:rPr lang="en-US" sz="1000" dirty="0">
                <a:solidFill>
                  <a:srgbClr val="FEF3C7"/>
                </a:solidFill>
                <a:latin typeface="Calibri"/>
              </a:rPr>
              <a:t>Unfreeze top N layers of base model</a:t>
            </a:r>
          </a:p>
          <a:p>
            <a:r>
              <a:rPr lang="en-US" sz="1000" dirty="0">
                <a:solidFill>
                  <a:srgbClr val="FEF3C7"/>
                </a:solidFill>
                <a:latin typeface="Calibri"/>
              </a:rPr>
              <a:t>base.layers[:-30] remain frozen</a:t>
            </a:r>
          </a:p>
          <a:p>
            <a:r>
              <a:rPr lang="en-US" sz="1000" b="1" dirty="0">
                <a:solidFill>
                  <a:srgbClr val="FCD34D"/>
                </a:solidFill>
                <a:latin typeface="Calibri"/>
              </a:rPr>
              <a:t>optimizer = Adam(lr=1e-5)  ⚠ CRITICAL!</a:t>
            </a:r>
          </a:p>
        </p:txBody>
      </p:sp>
      <p:sp>
        <p:nvSpPr>
          <p:cNvPr id="60" name="WarningBG"/>
          <p:cNvSpPr/>
          <p:nvPr/>
        </p:nvSpPr>
        <p:spPr>
          <a:xfrm>
            <a:off x="236882" y="3931522"/>
            <a:ext cx="8686800" cy="580000"/>
          </a:xfrm>
          <a:prstGeom prst="roundRect">
            <a:avLst>
              <a:gd name="adj" fmla="val 10000"/>
            </a:avLst>
          </a:prstGeom>
          <a:solidFill>
            <a:srgbClr val="431407"/>
          </a:solidFill>
          <a:ln w="25400">
            <a:solidFill>
              <a:srgbClr val="FB923C"/>
            </a:solidFill>
          </a:ln>
        </p:spPr>
      </p:sp>
      <p:sp>
        <p:nvSpPr>
          <p:cNvPr id="61" name="WarningText"/>
          <p:cNvSpPr/>
          <p:nvPr/>
        </p:nvSpPr>
        <p:spPr>
          <a:xfrm>
            <a:off x="300000" y="3986370"/>
            <a:ext cx="8550000" cy="52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B923C"/>
                </a:solidFill>
                <a:latin typeface="Calibri"/>
              </a:rPr>
              <a:t>⚠  NEVER skip Phase 1! </a:t>
            </a:r>
            <a:r>
              <a:rPr lang="en-US" sz="1100" dirty="0">
                <a:solidFill>
                  <a:srgbClr val="FED7AA"/>
                </a:solidFill>
                <a:latin typeface="Calibri"/>
              </a:rPr>
              <a:t>Unfreezing immediately lets random new-head weights corrupt trained base weights via backprop.</a:t>
            </a:r>
          </a:p>
        </p:txBody>
      </p:sp>
      <p:sp>
        <p:nvSpPr>
          <p:cNvPr id="70" name="ResultBG"/>
          <p:cNvSpPr/>
          <p:nvPr/>
        </p:nvSpPr>
        <p:spPr>
          <a:xfrm>
            <a:off x="236883" y="4563239"/>
            <a:ext cx="8686800" cy="580000"/>
          </a:xfrm>
          <a:prstGeom prst="roundRect">
            <a:avLst>
              <a:gd name="adj" fmla="val 10000"/>
            </a:avLst>
          </a:prstGeom>
          <a:solidFill>
            <a:srgbClr val="052E16"/>
          </a:solidFill>
          <a:ln w="25400">
            <a:solidFill>
              <a:srgbClr val="4ADE80"/>
            </a:solidFill>
          </a:ln>
        </p:spPr>
      </p:sp>
      <p:sp>
        <p:nvSpPr>
          <p:cNvPr id="71" name="ResultText"/>
          <p:cNvSpPr/>
          <p:nvPr/>
        </p:nvSpPr>
        <p:spPr>
          <a:xfrm>
            <a:off x="300000" y="4508696"/>
            <a:ext cx="8550000" cy="54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300" b="1" dirty="0">
                <a:solidFill>
                  <a:srgbClr val="4ADE80"/>
                </a:solidFill>
                <a:latin typeface="Calibri"/>
              </a:rPr>
              <a:t>🎯  RESULT:  Phase 1 </a:t>
            </a:r>
            <a:r>
              <a:rPr lang="en-US" sz="1300" dirty="0">
                <a:solidFill>
                  <a:srgbClr val="A3E635"/>
                </a:solidFill>
                <a:latin typeface="Calibri"/>
              </a:rPr>
              <a:t>~82% accuracy</a:t>
            </a:r>
            <a:r>
              <a:rPr lang="en-US" sz="1300" b="1" dirty="0">
                <a:solidFill>
                  <a:srgbClr val="4ADE80"/>
                </a:solidFill>
                <a:latin typeface="Calibri"/>
              </a:rPr>
              <a:t>   ➡   Phase 2 </a:t>
            </a:r>
            <a:r>
              <a:rPr lang="en-US" sz="1300" b="1" dirty="0">
                <a:solidFill>
                  <a:srgbClr val="FCD34D"/>
                </a:solidFill>
                <a:latin typeface="Calibri"/>
              </a:rPr>
              <a:t>97%+ accuracy</a:t>
            </a:r>
            <a:r>
              <a:rPr lang="en-US" sz="1300" dirty="0">
                <a:solidFill>
                  <a:srgbClr val="86EFAC"/>
                </a:solidFill>
                <a:latin typeface="Calibri"/>
              </a:rPr>
              <a:t>  (Trained on only ~500-5000 images!)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— Architecture Block Diagram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" y="1143000"/>
            <a:ext cx="1508760" cy="320040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" y="1143000"/>
            <a:ext cx="150876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1161288"/>
            <a:ext cx="1508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" y="164592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🐱 Cat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" y="21488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🐶 Dog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" y="26517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🐦 Bird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" y="31546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 Elephant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" y="365760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 more...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64208" y="2743200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2596896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0" y="1051560"/>
            <a:ext cx="3383280" cy="3383280"/>
          </a:xfrm>
          <a:prstGeom prst="rect">
            <a:avLst/>
          </a:prstGeom>
          <a:solidFill>
            <a:srgbClr val="F0F4FF"/>
          </a:solidFill>
          <a:ln w="12700">
            <a:solidFill>
              <a:srgbClr val="2D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11680" y="1051560"/>
            <a:ext cx="3383280" cy="475488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10972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BASE MODEL (MobileNetV2 / VGG16)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48840" y="1664208"/>
            <a:ext cx="3108960" cy="658368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0" y="1773936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42032" y="1719072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 1–10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42032" y="1993392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&amp; texture detection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48840" y="2468880"/>
            <a:ext cx="3108960" cy="65836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94560" y="2578608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🔒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42032" y="2523744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 11–50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42032" y="2798064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&amp; part detection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48840" y="3273552"/>
            <a:ext cx="3108960" cy="65836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94560" y="3383280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🔒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542032" y="3328416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 51–100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42032" y="3602736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part assembly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11680" y="4087368"/>
            <a:ext cx="3383280" cy="34747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57400" y="4114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FROZEN in Stage 1  — weights do not update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13248" y="1051560"/>
            <a:ext cx="0" cy="338328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5321808" y="1005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✂️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0096" y="129844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Cut!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13248" y="2743200"/>
            <a:ext cx="34747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41848" y="2596896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▶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833872" y="1417320"/>
            <a:ext cx="2944368" cy="283464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833872" y="1417320"/>
            <a:ext cx="2944368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1453896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NEW LAYERS (Yours!)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43600" y="1965960"/>
            <a:ext cx="2724912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89320" y="2039112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 Pooling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943600" y="2514600"/>
            <a:ext cx="2724912" cy="43891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89320" y="2587752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(0.2)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943600" y="3063240"/>
            <a:ext cx="2724912" cy="43891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89320" y="3136392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— ReLU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943600" y="3611880"/>
            <a:ext cx="2724912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89320" y="3685032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Softmax (10)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833872" y="4169664"/>
            <a:ext cx="2944368" cy="347472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70448" y="4197096"/>
            <a:ext cx="2871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TRAINABLE — randomly initialized, then trained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37160" y="4645152"/>
            <a:ext cx="864108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8600" y="4690872"/>
            <a:ext cx="8503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Train only new layers (base frozen)     →     Stage 2: Unfreeze upper base layers &amp; fine-tune all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Two-Stage Training Process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56616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5214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—  Feature Extraction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71907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Freeze ALL base model weights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New layer has random weights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267004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Train for ~10 epochs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314553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Loss drops, accuracy rises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" y="3621024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New layer learns to work with base features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3977640"/>
            <a:ext cx="3931920" cy="594360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0416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Stabilize new layer weights before mixing with base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07408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891B2"/>
                </a:solidFill>
              </a:rPr>
              <a:t>→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4114800" cy="356616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97280"/>
            <a:ext cx="411480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15214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 —  Fine-Tuning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171907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Unfreeze UPPER base layers (e.g. last 54)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92040" y="219456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Both parts now update together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92040" y="267004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Use a LOWER learning rate!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92040" y="314553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Expect a dip on the first epoch (normal!)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92040" y="3621024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Final accuracy jumps to 95–97%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846320" y="3977640"/>
            <a:ext cx="3931920" cy="59436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40416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Let base features adapt to your specific dataset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Transfer Learning Curves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303520" cy="3520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4206240"/>
            <a:ext cx="457200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188720"/>
            <a:ext cx="0" cy="301752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42245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→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18872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42336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27632" y="42336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05456" y="42336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83280" y="42336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|S2|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61104" y="42336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138928" y="42336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1188720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1792224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2395728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2999232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3602736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29000" y="1188720"/>
            <a:ext cx="0" cy="3017520"/>
          </a:xfrm>
          <a:prstGeom prst="line">
            <a:avLst/>
          </a:prstGeom>
          <a:noFill/>
          <a:ln w="12700">
            <a:solidFill>
              <a:srgbClr val="EF4444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456432" y="120700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→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22960" y="3017520"/>
            <a:ext cx="919688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00784" y="2743200"/>
            <a:ext cx="91440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78608" y="2487168"/>
            <a:ext cx="885506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2240280"/>
            <a:ext cx="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0" y="2240280"/>
            <a:ext cx="733461" cy="59436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58768" y="2834640"/>
            <a:ext cx="853092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0" y="2103120"/>
            <a:ext cx="942542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0" y="1508760"/>
            <a:ext cx="384592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2743200"/>
            <a:ext cx="934345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00784" y="2423160"/>
            <a:ext cx="902666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78608" y="2212848"/>
            <a:ext cx="873862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29000" y="2011680"/>
            <a:ext cx="0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29000" y="2011680"/>
            <a:ext cx="439388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58768" y="1920240"/>
            <a:ext cx="482817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97680" y="1719072"/>
            <a:ext cx="809851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0" y="1371600"/>
            <a:ext cx="381865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4400" y="4407408"/>
            <a:ext cx="36576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25880" y="435254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926080" y="4407408"/>
            <a:ext cx="36576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37560" y="43525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806440" y="1097280"/>
            <a:ext cx="3017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897880" y="116128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Why val &gt; train (Stage 1)?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897880" y="146304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weights are frozen &amp; already smart. The new top layer is still learning, so train score looks lower.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806440" y="2121408"/>
            <a:ext cx="3017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897880" y="218541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Accuracy Dip (Stage 2)?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897880" y="248716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Normal! When weights interact for first time, model gets briefly confused — then quickly recovers.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806440" y="3145536"/>
            <a:ext cx="3017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897880" y="320954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Final Result?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897880" y="351129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82% → 97%+. The combined model is better than either part alone.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Base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25196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6128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17520" y="12161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Google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61848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Params: 3.4M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8928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Trained on: ImageNet (1.4M images, 1000 classes)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16712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Best for: Mobile apps, fast training, limited compute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97280"/>
            <a:ext cx="425196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116128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52360" y="12161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Oxford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18888" y="161848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Params: 138M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18888" y="18928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Trained on: ImageNet (1.4M images, 1000 classes)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18888" y="216712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Best for: High accuracy, simple architecture to understand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26080"/>
            <a:ext cx="425196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99008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017520" y="3044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Microsoft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" y="344728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Params: 25M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" y="37216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Trained on: ImageNet (1.4M images, 1000 classes)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399592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Best for: Good balance of speed vs. accuracy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926080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926080"/>
            <a:ext cx="425196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299008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52360" y="3044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Google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18888" y="344728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Params: 5.3M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18888" y="37216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Trained on: ImageNet (1.4M images, 1000 classes)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18888" y="399592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Best for: State-of-the-art accuracy with fewer parameters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80060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Rule: Choose a model trained on data SIMILAR to yours. Use MobileNetV2 or EfficientNet for most student projects — fast + accurate.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35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648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— Full Code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41605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4241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Freeze &amp; Train New Head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08176"/>
            <a:ext cx="4160520" cy="3584448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6769" y="1543193"/>
            <a:ext cx="4005072" cy="34930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tensorflow.keras.applications import MobileNetV2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tensorflow.keras import layers, Sequential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tensorflow as tf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Load pre-trained model — no output head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= MobileNetV2(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weights     = 'imagenet',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include_top = False,        # ✂️ Amputate head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input_shape = (224, 224, 3)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Freeze original weights ❄️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Like keeping driving skills intact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base.trainable = False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Add YOUR classification head 🔥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Sequential([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layers.GlobalAveragePooling2D(),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layers.Dense(128, activation='relu'),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layers.Dense(10,  activation='softmax')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Train only the new head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model.compile(optimizer='adam',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loss='categorical_crossentropy',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metrics=['accuracy'])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model.fit(train_ds, epochs=10)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09160" y="1024128"/>
            <a:ext cx="41605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2312" y="104241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Unfreeze &amp; Fine-Tune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408176"/>
            <a:ext cx="4160520" cy="3584448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2312" y="1453896"/>
            <a:ext cx="4005072" cy="34930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Unfreeze top layers of base model 🔓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Like practicing the truck specifics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base.trainable = True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Keep early layers frozen (basic skills)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layer in base.layers[:-30]: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layer.trainable = False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⚠️ CRITICAL: tiny learning rate!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Large LR = destroys existing knowledge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model.compile(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optimizer = tf.keras.optimizers.Adam(1e-5),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      = 'categorical_crossentropy',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metrics   = ['accuracy']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6. Fine-tune — let layers blend together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model.fit(train_ds, epochs=10)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What you'll observe: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Epoch 1-2 : accuracy dips ← NORMAL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Epoch 3+  : recovers fast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Final     : ~97% accuracy 🎉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 tip: use EarlyStopping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 = tf.keras.callbacks.EarlyStopping(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monitor='val_accuracy', patience=3,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restore_best_weights=True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24044"/>
            <a:ext cx="8686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outcome: 82% accuracy after Phase 1 → 97%+ accuracy after Phase 2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— Stage 2: Unfreeze &amp; Fine-Tune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84048" y="1874520"/>
            <a:ext cx="5230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2423160"/>
            <a:ext cx="5230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3337560"/>
            <a:ext cx="5230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4048" y="4251960"/>
            <a:ext cx="5230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metrics=['accuracy'])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4048" y="4434840"/>
            <a:ext cx="5230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59329" y="966150"/>
            <a:ext cx="3017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0" y="1088136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lower learning rate?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943600" y="1371600"/>
            <a:ext cx="2798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LR would destroy the pretrained weights. Use 1e-5 instead of 1e-3.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833872" y="1901952"/>
            <a:ext cx="3017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943600" y="1965960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layers to unfreeze?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943600" y="2249424"/>
            <a:ext cx="2798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Experiment! Start with last 20–30%, then adjust based on validation accuracy.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833872" y="2779776"/>
            <a:ext cx="3017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943600" y="2843784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initial_epoch=10?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943600" y="3127248"/>
            <a:ext cx="2798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Keras to continue from epoch 10 — learning curves will be continuous.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833872" y="3657600"/>
            <a:ext cx="3017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943600" y="3721608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accuracy?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943600" y="4005072"/>
            <a:ext cx="2798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→ 97%+. Fine-tuning usually adds 5–15% over Stage 1.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57755" y="4618711"/>
            <a:ext cx="859536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4110" y="4655208"/>
            <a:ext cx="832104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⚠️  Always save model checkpoints between stages</a:t>
            </a:r>
            <a:endParaRPr lang="en-US" sz="1100">
              <a:solidFill>
                <a:srgbClr val="1E293B"/>
              </a:solidFill>
              <a:latin typeface="Consolas"/>
            </a:endParaRPr>
          </a:p>
        </p:txBody>
      </p:sp>
      <p:sp>
        <p:nvSpPr>
          <p:cNvPr id="43" name="Shape 8">
            <a:extLst>
              <a:ext uri="{FF2B5EF4-FFF2-40B4-BE49-F238E27FC236}">
                <a16:creationId xmlns:a16="http://schemas.microsoft.com/office/drawing/2014/main" id="{3A798E76-C22F-96D9-4E94-4634897B5472}"/>
              </a:ext>
            </a:extLst>
          </p:cNvPr>
          <p:cNvSpPr/>
          <p:nvPr/>
        </p:nvSpPr>
        <p:spPr>
          <a:xfrm>
            <a:off x="369072" y="969197"/>
            <a:ext cx="5386346" cy="3435361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26C93C1-94EF-9F38-8986-38020932BF86}"/>
              </a:ext>
            </a:extLst>
          </p:cNvPr>
          <p:cNvSpPr txBox="1"/>
          <p:nvPr/>
        </p:nvSpPr>
        <p:spPr>
          <a:xfrm>
            <a:off x="494456" y="1024466"/>
            <a:ext cx="4657795" cy="43012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900" b="0" i="0" u="none" strike="noStrike" baseline="0">
                <a:solidFill>
                  <a:srgbClr val="FFFFFF"/>
                </a:solidFill>
                <a:latin typeface="Consolas"/>
              </a:rPr>
              <a:t># 5. Unfreeze top layers of base model 🔓</a:t>
            </a:r>
            <a:r>
              <a:rPr lang="en-US" sz="900" b="0" i="0">
                <a:latin typeface="Consolas"/>
              </a:rPr>
              <a:t>​</a:t>
            </a:r>
          </a:p>
          <a:p>
            <a:pPr algn="l" rtl="0"/>
            <a:r>
              <a:rPr lang="en-US" sz="900" b="0" i="0" u="none" strike="noStrike" baseline="0">
                <a:solidFill>
                  <a:srgbClr val="FFFFFF"/>
                </a:solidFill>
                <a:latin typeface="Consolas"/>
              </a:rPr>
              <a:t># Like practicing the truck specifics</a:t>
            </a:r>
            <a:r>
              <a:rPr lang="en-US" sz="900" b="0" i="0">
                <a:latin typeface="Consolas"/>
              </a:rPr>
              <a:t>​</a:t>
            </a:r>
          </a:p>
          <a:p>
            <a:pPr algn="l" rtl="0"/>
            <a:r>
              <a:rPr lang="en-US" sz="900" b="0" i="0" u="none" strike="noStrike" baseline="0" dirty="0" err="1">
                <a:solidFill>
                  <a:srgbClr val="FFFFFF"/>
                </a:solidFill>
                <a:latin typeface="Consolas"/>
              </a:rPr>
              <a:t>base.trainable</a:t>
            </a:r>
            <a:r>
              <a:rPr lang="en-US" sz="900" b="0" i="0" u="none" strike="noStrike" baseline="0" dirty="0">
                <a:solidFill>
                  <a:srgbClr val="FFFFFF"/>
                </a:solidFill>
                <a:latin typeface="Consolas"/>
              </a:rPr>
              <a:t> = True</a:t>
            </a:r>
            <a:r>
              <a:rPr lang="en-US" sz="900" b="0" i="0" dirty="0">
                <a:latin typeface="Consolas"/>
              </a:rPr>
              <a:t>​</a:t>
            </a:r>
          </a:p>
          <a:p>
            <a:pPr algn="l" rtl="0"/>
            <a:r>
              <a:rPr lang="en-US" sz="900" b="0" i="0">
                <a:latin typeface="Calibri"/>
              </a:rPr>
              <a:t>​</a:t>
            </a:r>
          </a:p>
          <a:p>
            <a:pPr algn="l" rtl="0"/>
            <a:r>
              <a:rPr lang="en-US" sz="900" b="0" i="0" u="none" strike="noStrike" baseline="0">
                <a:solidFill>
                  <a:srgbClr val="FFFFFF"/>
                </a:solidFill>
                <a:latin typeface="Consolas"/>
              </a:rPr>
              <a:t># Keep early layers frozen (basic skills)</a:t>
            </a:r>
            <a:r>
              <a:rPr lang="en-US" sz="900" b="0" i="0">
                <a:latin typeface="Consolas"/>
              </a:rPr>
              <a:t>​</a:t>
            </a:r>
          </a:p>
          <a:p>
            <a:pPr algn="l" rtl="0"/>
            <a:r>
              <a:rPr lang="en-US" sz="900" b="0" i="0" u="none" strike="noStrike" baseline="0" dirty="0">
                <a:solidFill>
                  <a:srgbClr val="FFFFFF"/>
                </a:solidFill>
                <a:latin typeface="Consolas"/>
              </a:rPr>
              <a:t>for layer in </a:t>
            </a:r>
            <a:r>
              <a:rPr lang="en-US" sz="900" b="0" i="0" u="none" strike="noStrike" baseline="0" dirty="0" err="1">
                <a:solidFill>
                  <a:srgbClr val="FFFFFF"/>
                </a:solidFill>
                <a:latin typeface="Consolas"/>
              </a:rPr>
              <a:t>base.layers</a:t>
            </a:r>
            <a:r>
              <a:rPr lang="en-US" sz="900" b="0" i="0" u="none" strike="noStrike" baseline="0" dirty="0">
                <a:solidFill>
                  <a:srgbClr val="FFFFFF"/>
                </a:solidFill>
                <a:latin typeface="Consolas"/>
              </a:rPr>
              <a:t>[:-30]:</a:t>
            </a:r>
            <a:r>
              <a:rPr lang="en-US" sz="900" b="0" i="0" dirty="0">
                <a:latin typeface="Consolas"/>
              </a:rPr>
              <a:t>​</a:t>
            </a:r>
          </a:p>
          <a:p>
            <a:pPr algn="l" rtl="0"/>
            <a:r>
              <a:rPr lang="en-US" sz="900" b="0" i="0" u="none" strike="noStrike" baseline="0" dirty="0" err="1">
                <a:solidFill>
                  <a:srgbClr val="FFFFFF"/>
                </a:solidFill>
                <a:latin typeface="Consolas"/>
              </a:rPr>
              <a:t>layer.trainable</a:t>
            </a:r>
            <a:r>
              <a:rPr lang="en-US" sz="900" b="0" i="0" u="none" strike="noStrike" baseline="0" dirty="0">
                <a:solidFill>
                  <a:srgbClr val="FFFFFF"/>
                </a:solidFill>
                <a:latin typeface="Consolas"/>
              </a:rPr>
              <a:t> = False</a:t>
            </a:r>
            <a:r>
              <a:rPr lang="en-US" sz="900" b="0" i="0" dirty="0">
                <a:latin typeface="Consolas"/>
              </a:rPr>
              <a:t>​</a:t>
            </a:r>
          </a:p>
          <a:p>
            <a:pPr algn="l" rtl="0"/>
            <a:r>
              <a:rPr lang="en-US" sz="900" b="0" i="0">
                <a:latin typeface="Calibri"/>
              </a:rPr>
              <a:t>​</a:t>
            </a:r>
          </a:p>
          <a:p>
            <a:pPr algn="l" rtl="0"/>
            <a:r>
              <a:rPr lang="en-US" sz="900" b="0" i="0" u="none" strike="noStrike" baseline="0">
                <a:solidFill>
                  <a:srgbClr val="FFFFFF"/>
                </a:solidFill>
                <a:latin typeface="Consolas"/>
              </a:rPr>
              <a:t># ⚠️ CRITICAL: tiny learning rate!</a:t>
            </a:r>
            <a:r>
              <a:rPr lang="en-US" sz="900" b="0" i="0">
                <a:latin typeface="Consolas"/>
              </a:rPr>
              <a:t>​</a:t>
            </a:r>
          </a:p>
          <a:p>
            <a:pPr algn="l" rtl="0"/>
            <a:r>
              <a:rPr lang="en-US" sz="900" b="0" i="0" u="none" strike="noStrike" baseline="0">
                <a:solidFill>
                  <a:srgbClr val="FFFFFF"/>
                </a:solidFill>
                <a:latin typeface="Consolas"/>
              </a:rPr>
              <a:t># Large LR = destroys existing knowledge</a:t>
            </a:r>
            <a:r>
              <a:rPr lang="en-US" sz="900" b="0" i="0">
                <a:latin typeface="Consolas"/>
              </a:rPr>
              <a:t>​</a:t>
            </a:r>
          </a:p>
          <a:p>
            <a:pPr algn="l" rtl="0"/>
            <a:r>
              <a:rPr lang="en-US" sz="900" b="0" i="0" u="none" strike="noStrike" baseline="0" dirty="0" err="1">
                <a:solidFill>
                  <a:srgbClr val="FFFFFF"/>
                </a:solidFill>
                <a:latin typeface="Consolas"/>
              </a:rPr>
              <a:t>model.compile</a:t>
            </a:r>
            <a:r>
              <a:rPr lang="en-US" sz="900" b="0" i="0" u="none" strike="noStrike" baseline="0" dirty="0">
                <a:solidFill>
                  <a:srgbClr val="FFFFFF"/>
                </a:solidFill>
                <a:latin typeface="Consolas"/>
              </a:rPr>
              <a:t>(</a:t>
            </a:r>
            <a:r>
              <a:rPr lang="en-US" sz="900" b="0" i="0" dirty="0">
                <a:latin typeface="Consolas"/>
              </a:rPr>
              <a:t>​</a:t>
            </a:r>
          </a:p>
          <a:p>
            <a:pPr algn="l" rtl="0"/>
            <a:r>
              <a:rPr lang="en-US" sz="900" b="0" i="0" u="none" strike="noStrike" baseline="0" dirty="0">
                <a:solidFill>
                  <a:srgbClr val="FFFFFF"/>
                </a:solidFill>
                <a:latin typeface="Consolas"/>
              </a:rPr>
              <a:t>optimizer = </a:t>
            </a:r>
            <a:r>
              <a:rPr lang="en-US" sz="900" b="0" i="0" u="none" strike="noStrike" baseline="0" dirty="0" err="1">
                <a:solidFill>
                  <a:srgbClr val="FFFFFF"/>
                </a:solidFill>
                <a:latin typeface="Consolas"/>
              </a:rPr>
              <a:t>tf.keras.optimizers.Adam</a:t>
            </a:r>
            <a:r>
              <a:rPr lang="en-US" sz="900" b="0" i="0" u="none" strike="noStrike" baseline="0" dirty="0">
                <a:solidFill>
                  <a:srgbClr val="FFFFFF"/>
                </a:solidFill>
                <a:latin typeface="Consolas"/>
              </a:rPr>
              <a:t>(1e-5),</a:t>
            </a:r>
            <a:r>
              <a:rPr lang="en-US" sz="900" b="0" i="0" dirty="0">
                <a:latin typeface="Consolas"/>
              </a:rPr>
              <a:t>​</a:t>
            </a:r>
          </a:p>
          <a:p>
            <a:pPr algn="l" rtl="0"/>
            <a:r>
              <a:rPr lang="en-US" sz="900" b="0" i="0" u="none" strike="noStrike" baseline="0" dirty="0">
                <a:solidFill>
                  <a:srgbClr val="FFFFFF"/>
                </a:solidFill>
                <a:latin typeface="Consolas"/>
              </a:rPr>
              <a:t>loss = '</a:t>
            </a:r>
            <a:r>
              <a:rPr lang="en-US" sz="900" b="0" i="0" u="none" strike="noStrike" baseline="0" dirty="0" err="1">
                <a:solidFill>
                  <a:srgbClr val="FFFFFF"/>
                </a:solidFill>
                <a:latin typeface="Consolas"/>
              </a:rPr>
              <a:t>categorical_crossentropy</a:t>
            </a:r>
            <a:r>
              <a:rPr lang="en-US" sz="900" b="0" i="0" u="none" strike="noStrike" baseline="0" dirty="0">
                <a:solidFill>
                  <a:srgbClr val="FFFFFF"/>
                </a:solidFill>
                <a:latin typeface="Consolas"/>
              </a:rPr>
              <a:t>',</a:t>
            </a:r>
            <a:r>
              <a:rPr lang="en-US" sz="900" b="0" i="0" dirty="0">
                <a:latin typeface="Consolas"/>
              </a:rPr>
              <a:t>​</a:t>
            </a:r>
          </a:p>
          <a:p>
            <a:pPr algn="l" rtl="0"/>
            <a:r>
              <a:rPr lang="en-US" sz="900" b="0" i="0" u="none" strike="noStrike" baseline="0">
                <a:solidFill>
                  <a:srgbClr val="FFFFFF"/>
                </a:solidFill>
                <a:latin typeface="Consolas"/>
              </a:rPr>
              <a:t>metrics = ['accuracy']</a:t>
            </a:r>
            <a:r>
              <a:rPr lang="en-US" sz="900" b="0" i="0">
                <a:latin typeface="Consolas"/>
              </a:rPr>
              <a:t>​</a:t>
            </a:r>
          </a:p>
          <a:p>
            <a:pPr algn="l" rtl="0"/>
            <a:r>
              <a:rPr lang="en-US" sz="900" b="0" i="0" u="none" strike="noStrike" baseline="0">
                <a:solidFill>
                  <a:srgbClr val="FFFFFF"/>
                </a:solidFill>
                <a:latin typeface="Consolas"/>
              </a:rPr>
              <a:t>)</a:t>
            </a:r>
            <a:r>
              <a:rPr lang="en-US" sz="900" b="0" i="0">
                <a:latin typeface="Consolas"/>
              </a:rPr>
              <a:t>​</a:t>
            </a:r>
          </a:p>
          <a:p>
            <a:pPr algn="l" rtl="0"/>
            <a:r>
              <a:rPr lang="en-US" sz="900" b="0" i="0">
                <a:latin typeface="Calibri"/>
              </a:rPr>
              <a:t>​</a:t>
            </a:r>
          </a:p>
          <a:p>
            <a:pPr algn="l" rtl="0"/>
            <a:r>
              <a:rPr lang="en-US" sz="900" b="0" i="0" u="none" strike="noStrike" baseline="0">
                <a:solidFill>
                  <a:srgbClr val="FFFFFF"/>
                </a:solidFill>
                <a:latin typeface="Consolas"/>
              </a:rPr>
              <a:t># 6. Fine-tune — let layers blend together</a:t>
            </a:r>
            <a:r>
              <a:rPr lang="en-US" sz="900" b="0" i="0">
                <a:latin typeface="Consolas"/>
              </a:rPr>
              <a:t>​</a:t>
            </a:r>
          </a:p>
          <a:p>
            <a:r>
              <a:rPr lang="en-US" sz="900" b="0" i="0" u="none" strike="noStrike" baseline="0" dirty="0" err="1">
                <a:solidFill>
                  <a:srgbClr val="FFFFFF"/>
                </a:solidFill>
                <a:latin typeface="Consolas"/>
              </a:rPr>
              <a:t>model.fit</a:t>
            </a:r>
            <a:r>
              <a:rPr lang="en-US" sz="900" b="0" i="0" u="none" strike="noStrike" baseline="0" dirty="0">
                <a:solidFill>
                  <a:srgbClr val="FFFFFF"/>
                </a:solidFill>
                <a:latin typeface="Consolas"/>
              </a:rPr>
              <a:t>(</a:t>
            </a:r>
            <a:r>
              <a:rPr lang="en-US" sz="900" b="0" i="0" u="none" strike="noStrike" baseline="0" dirty="0" err="1">
                <a:solidFill>
                  <a:srgbClr val="FFFFFF"/>
                </a:solidFill>
                <a:latin typeface="Consolas"/>
              </a:rPr>
              <a:t>train_ds</a:t>
            </a:r>
            <a:r>
              <a:rPr lang="en-US" sz="900" b="0" i="0" u="none" strike="noStrike" baseline="0" dirty="0">
                <a:solidFill>
                  <a:srgbClr val="FFFFFF"/>
                </a:solidFill>
                <a:latin typeface="Consolas"/>
              </a:rPr>
              <a:t>, epochs=10)</a:t>
            </a:r>
            <a:r>
              <a:rPr lang="en-US" sz="900" b="0" i="0" dirty="0">
                <a:latin typeface="Consolas"/>
              </a:rPr>
              <a:t>​</a:t>
            </a:r>
            <a:endParaRPr lang="en-US" sz="900" dirty="0">
              <a:solidFill>
                <a:srgbClr val="000000"/>
              </a:solidFill>
              <a:latin typeface="Consolas"/>
            </a:endParaRPr>
          </a:p>
          <a:p>
            <a:endParaRPr lang="en-US" sz="900" dirty="0">
              <a:solidFill>
                <a:srgbClr val="FFFFFF"/>
              </a:solidFill>
              <a:latin typeface="Consolas"/>
            </a:endParaRPr>
          </a:p>
          <a:p>
            <a:r>
              <a:rPr lang="en-US" sz="900" dirty="0">
                <a:solidFill>
                  <a:srgbClr val="FFFFFF"/>
                </a:solidFill>
                <a:latin typeface="Consolas"/>
              </a:rPr>
              <a:t># Pro tip: use </a:t>
            </a:r>
            <a:r>
              <a:rPr lang="en-US" sz="900" dirty="0" err="1">
                <a:solidFill>
                  <a:srgbClr val="FFFFFF"/>
                </a:solidFill>
                <a:latin typeface="Consolas"/>
              </a:rPr>
              <a:t>EarlyStopping</a:t>
            </a:r>
            <a:r>
              <a:rPr lang="en-US" sz="900" dirty="0">
                <a:latin typeface="Consolas"/>
              </a:rPr>
              <a:t> </a:t>
            </a:r>
            <a:endParaRPr lang="en-US">
              <a:ea typeface="Calibri"/>
              <a:cs typeface="Calibri"/>
            </a:endParaRPr>
          </a:p>
          <a:p>
            <a:r>
              <a:rPr lang="en-US" sz="900" dirty="0">
                <a:solidFill>
                  <a:srgbClr val="FFFFFF"/>
                </a:solidFill>
                <a:latin typeface="Consolas"/>
              </a:rPr>
              <a:t>es = </a:t>
            </a:r>
            <a:r>
              <a:rPr lang="en-US" sz="900" dirty="0" err="1">
                <a:solidFill>
                  <a:srgbClr val="FFFFFF"/>
                </a:solidFill>
                <a:latin typeface="Consolas"/>
              </a:rPr>
              <a:t>tf.keras.callbacks.EarlyStopping</a:t>
            </a:r>
            <a:r>
              <a:rPr lang="en-US" sz="900" dirty="0">
                <a:solidFill>
                  <a:srgbClr val="FFFFFF"/>
                </a:solidFill>
                <a:latin typeface="Consolas"/>
              </a:rPr>
              <a:t>(</a:t>
            </a:r>
            <a:r>
              <a:rPr lang="en-US" sz="900" dirty="0">
                <a:latin typeface="Consolas"/>
              </a:rPr>
              <a:t> </a:t>
            </a:r>
          </a:p>
          <a:p>
            <a:r>
              <a:rPr lang="en-US" sz="900" dirty="0">
                <a:solidFill>
                  <a:srgbClr val="FFFFFF"/>
                </a:solidFill>
                <a:latin typeface="Consolas"/>
              </a:rPr>
              <a:t>monitor='</a:t>
            </a:r>
            <a:r>
              <a:rPr lang="en-US" sz="900" dirty="0" err="1">
                <a:solidFill>
                  <a:srgbClr val="FFFFFF"/>
                </a:solidFill>
                <a:latin typeface="Consolas"/>
              </a:rPr>
              <a:t>val_accuracy</a:t>
            </a:r>
            <a:r>
              <a:rPr lang="en-US" sz="900" dirty="0">
                <a:solidFill>
                  <a:srgbClr val="FFFFFF"/>
                </a:solidFill>
                <a:latin typeface="Consolas"/>
              </a:rPr>
              <a:t>', patience=3,</a:t>
            </a:r>
            <a:r>
              <a:rPr lang="en-US" sz="900" dirty="0">
                <a:latin typeface="Consolas"/>
              </a:rPr>
              <a:t> </a:t>
            </a:r>
          </a:p>
          <a:p>
            <a:r>
              <a:rPr lang="en-US" sz="900" dirty="0" err="1">
                <a:solidFill>
                  <a:srgbClr val="FFFFFF"/>
                </a:solidFill>
                <a:latin typeface="Consolas"/>
              </a:rPr>
              <a:t>restore_best_weights</a:t>
            </a:r>
            <a:r>
              <a:rPr lang="en-US" sz="900" dirty="0">
                <a:solidFill>
                  <a:srgbClr val="FFFFFF"/>
                </a:solidFill>
                <a:latin typeface="Consolas"/>
              </a:rPr>
              <a:t>=True</a:t>
            </a:r>
            <a:r>
              <a:rPr lang="en-US" sz="900" dirty="0">
                <a:latin typeface="Consolas"/>
              </a:rPr>
              <a:t> </a:t>
            </a:r>
          </a:p>
          <a:p>
            <a:r>
              <a:rPr lang="en-US" sz="900">
                <a:solidFill>
                  <a:srgbClr val="FFFFFF"/>
                </a:solidFill>
                <a:latin typeface="Consolas"/>
              </a:rPr>
              <a:t>)</a:t>
            </a:r>
            <a:r>
              <a:rPr lang="en-US" sz="900" dirty="0">
                <a:latin typeface="Consolas"/>
              </a:rPr>
              <a:t> </a:t>
            </a:r>
          </a:p>
          <a:p>
            <a:pPr algn="l"/>
            <a:endParaRPr lang="en-US" sz="900" b="0" i="0" dirty="0">
              <a:latin typeface="Consolas"/>
            </a:endParaRPr>
          </a:p>
          <a:p>
            <a:pPr algn="l" rtl="0"/>
            <a:r>
              <a:rPr lang="en-US" sz="900" b="0" i="0">
                <a:latin typeface="Calibri"/>
              </a:rPr>
              <a:t>​</a:t>
            </a:r>
          </a:p>
          <a:p>
            <a:pPr algn="l" rtl="0"/>
            <a:endParaRPr lang="en-US" sz="900" b="0" i="0" dirty="0">
              <a:latin typeface="Consolas"/>
            </a:endParaRPr>
          </a:p>
          <a:p>
            <a:pPr algn="l" rtl="0"/>
            <a:r>
              <a:rPr lang="en-US" sz="900" b="0" i="0">
                <a:latin typeface="Calibri"/>
              </a:rPr>
              <a:t>​</a:t>
            </a:r>
          </a:p>
          <a:p>
            <a:pPr algn="l" rtl="0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(and When NOT to Use) Transfer Learning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33756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61288"/>
            <a:ext cx="3913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 Transfer Learning when...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Your dataset is similar to ImageNet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19842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Animals, everyday objects, food, scenes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You have limited labeled data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27157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&lt; 10,000 images per class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15468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You need fast results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34472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Prototype or student project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88620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Compute is limited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1480" y="4178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Google Colab free tier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07408" y="24688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</a:rPr>
              <a:t>vs.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4114800" cy="333756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97280"/>
            <a:ext cx="411480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1161288"/>
            <a:ext cx="3913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AVOID it when...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64608" y="169164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Very different data domain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64608" y="19842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Medical MRI, satellite imagery, digits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64608" y="242316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Huge proprietary dataset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64608" y="27157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Millions of your own images — train from scratch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64608" y="315468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Conflicting feature patterns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64608" y="34472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e.g. using animal model for handwriting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64608" y="388620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Need full control of architecture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864608" y="4178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Research / cutting-edge custom models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544568"/>
            <a:ext cx="8595360" cy="347472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58114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Instructor note: For your bootcamp project — almost certainly USE it. Models like MobileNetV2 or EfficientNet are perfect starting points.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B3A6B">
              <a:alpha val="35000"/>
            </a:srgbClr>
          </a:solidFill>
          <a:ln w="12700">
            <a:solidFill>
              <a:srgbClr val="1B3A6B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Transfer Learning — Key Takeaways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621792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33272"/>
            <a:ext cx="621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1005840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= reusing a powerful pre-trained CNN and adapting it to your task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591056"/>
            <a:ext cx="850392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591056"/>
            <a:ext cx="621792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709928"/>
            <a:ext cx="621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1682496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base weights first (Stage 1) → train new top layer → then unfreeze upper layers (Stage 2)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2267712"/>
            <a:ext cx="850392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267712"/>
            <a:ext cx="621792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86584"/>
            <a:ext cx="621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235915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layers detect generic features (edges, shapes) — keep them! Replace only the final prediction layer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2944368"/>
            <a:ext cx="850392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44368"/>
            <a:ext cx="621792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063240"/>
            <a:ext cx="621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51560" y="303580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LOW learning rate in Stage 2 (1e-5) to avoid destroying pre-trained knowledge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621024"/>
            <a:ext cx="850392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621024"/>
            <a:ext cx="62179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739896"/>
            <a:ext cx="621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51560" y="3712464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models for projects: MobileNetV2 (fast), EfficientNetB0 (accurate), VGG16 (simple to understand)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" y="4297680"/>
            <a:ext cx="850392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297680"/>
            <a:ext cx="621792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416552"/>
            <a:ext cx="621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51560" y="4389120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go from 82% → 97%+ accuracy with much less data and training time than from scratch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3–4 hours for your own transfer learning experiments — there is a lot of trial &amp; error! 🚀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21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 Learning</dc:title>
  <dc:subject>PptxGenJS Presentation</dc:subject>
  <dc:creator>PptxGenJS</dc:creator>
  <cp:lastModifiedBy>PptxGenJS</cp:lastModifiedBy>
  <cp:revision>62</cp:revision>
  <dcterms:created xsi:type="dcterms:W3CDTF">2026-04-16T04:11:42Z</dcterms:created>
  <dcterms:modified xsi:type="dcterms:W3CDTF">2026-04-16T05:00:02Z</dcterms:modified>
</cp:coreProperties>
</file>